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Noto Sans" panose="020B0604020202020204" charset="0"/>
      <p:regular r:id="rId26"/>
    </p:embeddedFont>
    <p:embeddedFont>
      <p:font typeface="Noto Sans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1650481" y="6205608"/>
            <a:ext cx="5724244" cy="6734405"/>
          </a:xfrm>
          <a:custGeom>
            <a:avLst/>
            <a:gdLst/>
            <a:ahLst/>
            <a:cxnLst/>
            <a:rect l="l" t="t" r="r" b="b"/>
            <a:pathLst>
              <a:path w="5724244" h="6734405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09515" y="270692"/>
            <a:ext cx="2995531" cy="2885747"/>
          </a:xfrm>
          <a:custGeom>
            <a:avLst/>
            <a:gdLst/>
            <a:ahLst/>
            <a:cxnLst/>
            <a:rect l="l" t="t" r="r" b="b"/>
            <a:pathLst>
              <a:path w="2995531" h="2885747">
                <a:moveTo>
                  <a:pt x="0" y="0"/>
                </a:moveTo>
                <a:lnTo>
                  <a:pt x="2995531" y="0"/>
                </a:lnTo>
                <a:lnTo>
                  <a:pt x="2995531" y="2885747"/>
                </a:lnTo>
                <a:lnTo>
                  <a:pt x="0" y="28857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625427" y="498908"/>
            <a:ext cx="12354848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ĐẠI HỌC ĐIỆN LỰC </a:t>
            </a:r>
          </a:p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KHOA CÔNG NGHỆ THÔNG TIN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67059" y="3337214"/>
            <a:ext cx="13702471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BẢO VỆ ĐỒ ÁN TỐT NGHIỆP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93656" y="4664164"/>
            <a:ext cx="14467718" cy="2655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3"/>
              </a:lnSpc>
            </a:pPr>
            <a:r>
              <a:rPr lang="en-US" sz="4400">
                <a:solidFill>
                  <a:srgbClr val="145593"/>
                </a:solidFill>
                <a:latin typeface="Noto Sans"/>
                <a:ea typeface="Noto Sans"/>
                <a:cs typeface="Noto Sans"/>
                <a:sym typeface="Noto Sans"/>
              </a:rPr>
              <a:t>Đề tài:</a:t>
            </a:r>
          </a:p>
          <a:p>
            <a:pPr algn="ctr">
              <a:lnSpc>
                <a:spcPts val="7173"/>
              </a:lnSpc>
            </a:pPr>
            <a:r>
              <a:rPr lang="en-US" sz="4400">
                <a:solidFill>
                  <a:srgbClr val="145593"/>
                </a:solidFill>
                <a:latin typeface="Noto Sans"/>
                <a:ea typeface="Noto Sans"/>
                <a:cs typeface="Noto Sans"/>
                <a:sym typeface="Noto Sans"/>
              </a:rPr>
              <a:t>THIẾT KẾ VÀ XÂY DỰNG HỆ THỐNG QUẢN LÝ NHÂN SỰ TRÊN NỀN TẢNG ASP.NET CORE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7946" y="7684445"/>
            <a:ext cx="1496342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79">
                <a:solidFill>
                  <a:srgbClr val="145593"/>
                </a:solidFill>
                <a:latin typeface="Noto Sans"/>
                <a:ea typeface="Noto Sans"/>
                <a:cs typeface="Noto Sans"/>
                <a:sym typeface="Noto Sans"/>
              </a:rPr>
              <a:t>Sinh viên thực hiện: Nguyễn Trọng Quý</a:t>
            </a:r>
          </a:p>
        </p:txBody>
      </p:sp>
      <p:sp>
        <p:nvSpPr>
          <p:cNvPr id="8" name="Freeform 8"/>
          <p:cNvSpPr/>
          <p:nvPr/>
        </p:nvSpPr>
        <p:spPr>
          <a:xfrm flipH="1" flipV="1">
            <a:off x="15641208" y="5387975"/>
            <a:ext cx="4546302" cy="5348590"/>
          </a:xfrm>
          <a:custGeom>
            <a:avLst/>
            <a:gdLst/>
            <a:ahLst/>
            <a:cxnLst/>
            <a:rect l="l" t="t" r="r" b="b"/>
            <a:pathLst>
              <a:path w="4546302" h="5348590">
                <a:moveTo>
                  <a:pt x="4546301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1" y="0"/>
                </a:lnTo>
                <a:lnTo>
                  <a:pt x="4546301" y="5348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78017" y="4968879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16486" y="737540"/>
            <a:ext cx="9882562" cy="982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7381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Nội Dung Chính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-2670339" y="-185313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2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2" y="0"/>
                </a:lnTo>
                <a:lnTo>
                  <a:pt x="6328302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34946" y="2163464"/>
            <a:ext cx="12343071" cy="758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49"/>
              </a:lnSpc>
            </a:pPr>
            <a:r>
              <a:rPr lang="en-US" sz="3399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1. Lý do chọn đề tài</a:t>
            </a:r>
          </a:p>
          <a:p>
            <a:pPr algn="l">
              <a:lnSpc>
                <a:spcPts val="7649"/>
              </a:lnSpc>
            </a:pPr>
            <a:r>
              <a:rPr lang="en-US" sz="3399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2. Mục tiêu đề tài</a:t>
            </a:r>
          </a:p>
          <a:p>
            <a:pPr algn="l">
              <a:lnSpc>
                <a:spcPts val="7649"/>
              </a:lnSpc>
            </a:pPr>
            <a:r>
              <a:rPr lang="en-US" sz="3399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3. Kiến trúc hệ thống </a:t>
            </a:r>
          </a:p>
          <a:p>
            <a:pPr algn="l">
              <a:lnSpc>
                <a:spcPts val="7649"/>
              </a:lnSpc>
            </a:pPr>
            <a:r>
              <a:rPr lang="en-US" sz="3399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4. Quản trị dữ liệu </a:t>
            </a:r>
          </a:p>
          <a:p>
            <a:pPr algn="l">
              <a:lnSpc>
                <a:spcPts val="7649"/>
              </a:lnSpc>
            </a:pPr>
            <a:r>
              <a:rPr lang="en-US" sz="3399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5. Giao diện người dùng</a:t>
            </a:r>
          </a:p>
          <a:p>
            <a:pPr algn="l">
              <a:lnSpc>
                <a:spcPts val="7649"/>
              </a:lnSpc>
            </a:pPr>
            <a:r>
              <a:rPr lang="en-US" sz="3399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6. Các chức năng chính</a:t>
            </a:r>
          </a:p>
          <a:p>
            <a:pPr algn="l">
              <a:lnSpc>
                <a:spcPts val="7649"/>
              </a:lnSpc>
            </a:pPr>
            <a:r>
              <a:rPr lang="en-US" sz="3399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7. Hạn chế và Hướng phát triển</a:t>
            </a:r>
          </a:p>
          <a:p>
            <a:pPr algn="l">
              <a:lnSpc>
                <a:spcPts val="7649"/>
              </a:lnSpc>
            </a:pPr>
            <a:endParaRPr lang="en-US" sz="3399" b="1">
              <a:solidFill>
                <a:srgbClr val="104378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64755" y="685792"/>
            <a:ext cx="15523245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Lý do chọn đề tài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22598" y="1661467"/>
            <a:ext cx="14032048" cy="8484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6799"/>
              </a:lnSpc>
              <a:buAutoNum type="arabicPeriod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Thực trạng còn nhiều hạn chế</a:t>
            </a:r>
          </a:p>
          <a:p>
            <a:pPr marL="1468119" lvl="2" indent="-489373" algn="l">
              <a:lnSpc>
                <a:spcPts val="6799"/>
              </a:lnSpc>
              <a:buFont typeface="Arial"/>
              <a:buChar char="⚬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Quản lý nhân sự thủ công, rời rạc (Excel, hồ sơ giấy)</a:t>
            </a:r>
          </a:p>
          <a:p>
            <a:pPr marL="1468119" lvl="2" indent="-489373" algn="l">
              <a:lnSpc>
                <a:spcPts val="6799"/>
              </a:lnSpc>
              <a:buFont typeface="Arial"/>
              <a:buChar char="⚬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Khó đồng bộ dữ liệu giữa hành chính – kế toán</a:t>
            </a:r>
          </a:p>
          <a:p>
            <a:pPr marL="1468119" lvl="2" indent="-489373" algn="l">
              <a:lnSpc>
                <a:spcPts val="6799"/>
              </a:lnSpc>
              <a:buFont typeface="Arial"/>
              <a:buChar char="⚬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Dễ sai sót trong chấm công, tính lương, bảo hiểm</a:t>
            </a:r>
          </a:p>
          <a:p>
            <a:pPr marL="1468119" lvl="2" indent="-489373" algn="l">
              <a:lnSpc>
                <a:spcPts val="6799"/>
              </a:lnSpc>
              <a:buFont typeface="Arial"/>
              <a:buChar char="⚬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Quy trình rườm rà, tốn thời gian và chi phí vận hành</a:t>
            </a:r>
          </a:p>
          <a:p>
            <a:pPr marL="734059" lvl="1" indent="-367030" algn="l">
              <a:lnSpc>
                <a:spcPts val="6799"/>
              </a:lnSpc>
              <a:buAutoNum type="arabicPeriod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Xu hướng và yêu cầu tất yếu</a:t>
            </a:r>
          </a:p>
          <a:p>
            <a:pPr marL="1468119" lvl="2" indent="-489373" algn="l">
              <a:lnSpc>
                <a:spcPts val="6799"/>
              </a:lnSpc>
              <a:buFont typeface="Arial"/>
              <a:buChar char="⚬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Chuyển đổi số trong quản trị nhân sự (e-HRM)</a:t>
            </a:r>
          </a:p>
          <a:p>
            <a:pPr marL="1468119" lvl="2" indent="-489373" algn="l">
              <a:lnSpc>
                <a:spcPts val="6799"/>
              </a:lnSpc>
              <a:buFont typeface="Arial"/>
              <a:buChar char="⚬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Nhu cầu hệ thống quản lý tự động – tập trung – chính xác</a:t>
            </a:r>
          </a:p>
          <a:p>
            <a:pPr marL="1468119" lvl="2" indent="-489373" algn="l">
              <a:lnSpc>
                <a:spcPts val="6799"/>
              </a:lnSpc>
              <a:buFont typeface="Arial"/>
              <a:buChar char="⚬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Đảm bảo minh bạch và tuân thủ pháp luật lao động</a:t>
            </a:r>
          </a:p>
          <a:p>
            <a:pPr algn="l">
              <a:lnSpc>
                <a:spcPts val="6799"/>
              </a:lnSpc>
            </a:pPr>
            <a:endParaRPr lang="en-US" sz="3399">
              <a:solidFill>
                <a:srgbClr val="10437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4878017" y="4968879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5793" y="1468309"/>
            <a:ext cx="15523245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2.Mục tiêu đề tài 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51271" y="2578178"/>
            <a:ext cx="15708029" cy="41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90482" lvl="1" indent="-445241" algn="l">
              <a:lnSpc>
                <a:spcPts val="8372"/>
              </a:lnSpc>
              <a:buFont typeface="Arial"/>
              <a:buChar char="•"/>
            </a:pPr>
            <a:r>
              <a:rPr lang="en-US" sz="4124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Xây dựng hệ thống quản lý nhân sự </a:t>
            </a:r>
          </a:p>
          <a:p>
            <a:pPr marL="890482" lvl="1" indent="-445241" algn="l">
              <a:lnSpc>
                <a:spcPts val="8372"/>
              </a:lnSpc>
              <a:buFont typeface="Arial"/>
              <a:buChar char="•"/>
            </a:pPr>
            <a:r>
              <a:rPr lang="en-US" sz="4124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Số hóa hồ sơ, chấm công, tính lương và bảo hiểm</a:t>
            </a:r>
          </a:p>
          <a:p>
            <a:pPr marL="890482" lvl="1" indent="-445241" algn="l">
              <a:lnSpc>
                <a:spcPts val="8372"/>
              </a:lnSpc>
              <a:buFont typeface="Arial"/>
              <a:buChar char="•"/>
            </a:pPr>
            <a:r>
              <a:rPr lang="en-US" sz="4124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Tự động hóa nghiệp vụ, nâng cao hiệu quả quản trị</a:t>
            </a:r>
          </a:p>
          <a:p>
            <a:pPr marL="890482" lvl="1" indent="-445241" algn="l">
              <a:lnSpc>
                <a:spcPts val="8372"/>
              </a:lnSpc>
              <a:buFont typeface="Arial"/>
              <a:buChar char="•"/>
            </a:pPr>
            <a:r>
              <a:rPr lang="en-US" sz="4124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Báo cáo – thống kê hỗ trợ ra quyết định</a:t>
            </a:r>
          </a:p>
        </p:txBody>
      </p:sp>
      <p:sp>
        <p:nvSpPr>
          <p:cNvPr id="5" name="Freeform 5"/>
          <p:cNvSpPr/>
          <p:nvPr/>
        </p:nvSpPr>
        <p:spPr>
          <a:xfrm>
            <a:off x="14878017" y="4968879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64754" y="685792"/>
            <a:ext cx="1361824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000" b="1" dirty="0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3.Kiến </a:t>
            </a:r>
            <a:r>
              <a:rPr lang="en-US" sz="6000" b="1" dirty="0" err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trúc</a:t>
            </a:r>
            <a:r>
              <a:rPr lang="en-US" sz="6000" b="1" dirty="0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6000" b="1" dirty="0" err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hệ</a:t>
            </a:r>
            <a:r>
              <a:rPr lang="en-US" sz="6000" b="1" dirty="0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6000" b="1" dirty="0" err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thống</a:t>
            </a:r>
            <a:r>
              <a:rPr lang="en-US" sz="6000" b="1" dirty="0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(Backend)  ASP.NET Core &amp; Web API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18608" y="3325379"/>
            <a:ext cx="1198374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1.  Nền tảng ASP.NET Core: Hiệu năng và Sự ổn định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57916" y="4046257"/>
            <a:ext cx="15929965" cy="447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Đa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nền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tảng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: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Vận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hành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linh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hoạt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(Windows, Linux, Docker).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Async/Await: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Tối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ưu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hóa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xử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lý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truy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vấn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dữ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liệu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lớn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(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Lương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Chấm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công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).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HTTP Methods: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Chuẩn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hóa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thao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tác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dữ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liệu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(GET, POST, PUT, DELETE).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Security Pipeline: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Kiểm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soát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tập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trung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(Authentication &amp; Authorization).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Data Annotations: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Ràng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buộc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dữ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liệu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"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sạch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"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ngay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tại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lớp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Controller.</a:t>
            </a:r>
          </a:p>
        </p:txBody>
      </p:sp>
      <p:sp>
        <p:nvSpPr>
          <p:cNvPr id="6" name="Freeform 6"/>
          <p:cNvSpPr/>
          <p:nvPr/>
        </p:nvSpPr>
        <p:spPr>
          <a:xfrm>
            <a:off x="14878017" y="4968879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64755" y="685792"/>
            <a:ext cx="12113262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4.Quản trị dữ liệu (SQLServer) 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61527" y="2901636"/>
            <a:ext cx="16149387" cy="447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EF Core: Quản trị thông minh</a:t>
            </a:r>
          </a:p>
          <a:p>
            <a:pPr marL="1468119" lvl="2" indent="-489373" algn="l">
              <a:lnSpc>
                <a:spcPts val="7241"/>
              </a:lnSpc>
              <a:buFont typeface="Arial"/>
              <a:buChar char="⚬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Code First &amp; Migration: Đồng bộ cấu trúc DB trực tiếp từ mã nguồn C#.</a:t>
            </a:r>
          </a:p>
          <a:p>
            <a:pPr marL="1468119" lvl="2" indent="-489373" algn="l">
              <a:lnSpc>
                <a:spcPts val="7241"/>
              </a:lnSpc>
              <a:buFont typeface="Arial"/>
              <a:buChar char="⚬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Unit of Work: Đảm bảo nhất quán dữ liệu trong mọi tác vụ nghiệp vụ.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LINQ (EF Core): Ưu tiên An toàn &amp; Tốc độ phát triển cho các tác vụ CRUD.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Dapper: Tối ưu Hiệu năng thô cho báo cáo lương/công quy mô lớn</a:t>
            </a:r>
          </a:p>
        </p:txBody>
      </p:sp>
      <p:sp>
        <p:nvSpPr>
          <p:cNvPr id="5" name="Freeform 5"/>
          <p:cNvSpPr/>
          <p:nvPr/>
        </p:nvSpPr>
        <p:spPr>
          <a:xfrm>
            <a:off x="14878017" y="4968879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8483" y="685792"/>
            <a:ext cx="15869517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5.Giao diện người dùng (NEXT.JS)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64006" y="2700020"/>
            <a:ext cx="15825095" cy="530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41"/>
              </a:lnSpc>
            </a:pP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Hiệu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năng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&amp;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Trải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nghiệm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(Performance &amp; UX)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SSR &amp; SSG: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Kết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xuất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tối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ưu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(Server-side &amp; Static),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giúp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tải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trang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siêu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nhanh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cho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mọi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loại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dữ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liệu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(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lương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biến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động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quy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định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tĩnh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).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Component-based: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Thiết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kế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theo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thành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phần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giúp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giao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diện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nhất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quán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dễ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bảo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trì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và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tái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sử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dụng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cao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(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bảng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, form,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nút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).</a:t>
            </a:r>
          </a:p>
          <a:p>
            <a:pPr algn="l">
              <a:lnSpc>
                <a:spcPts val="5949"/>
              </a:lnSpc>
            </a:pPr>
            <a:endParaRPr lang="en-US" sz="3399" dirty="0">
              <a:solidFill>
                <a:srgbClr val="10437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945135" y="5143500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8483" y="685792"/>
            <a:ext cx="15869517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Các chức năng chính 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45135" y="5143500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99269" y="1711659"/>
            <a:ext cx="11019031" cy="7892381"/>
          </a:xfrm>
          <a:custGeom>
            <a:avLst/>
            <a:gdLst/>
            <a:ahLst/>
            <a:cxnLst/>
            <a:rect l="l" t="t" r="r" b="b"/>
            <a:pathLst>
              <a:path w="11019031" h="7892381">
                <a:moveTo>
                  <a:pt x="0" y="0"/>
                </a:moveTo>
                <a:lnTo>
                  <a:pt x="11019031" y="0"/>
                </a:lnTo>
                <a:lnTo>
                  <a:pt x="11019031" y="7892382"/>
                </a:lnTo>
                <a:lnTo>
                  <a:pt x="0" y="78923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8483" y="685792"/>
            <a:ext cx="15869517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Các chức năng chính 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26286" y="2170396"/>
            <a:ext cx="808813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Một vài chức năng chính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2224" y="3004334"/>
            <a:ext cx="15103552" cy="447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Số hóa hồ sơ: Quản lý thông tin cơ bản của nhân viên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Phiếu lương cá nhân: Xuất phiếu lương điện tử minh bạch, cho phép nhân viên tự tra cứu lịch sử nhận lương hàng tháng.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Quản lý bảo hiểm: Tự động khấu trừ các khoản BHXH, BHYT, BHTN theo tỷ lệ quy định hiện hành.</a:t>
            </a:r>
          </a:p>
        </p:txBody>
      </p:sp>
      <p:sp>
        <p:nvSpPr>
          <p:cNvPr id="6" name="Freeform 6"/>
          <p:cNvSpPr/>
          <p:nvPr/>
        </p:nvSpPr>
        <p:spPr>
          <a:xfrm>
            <a:off x="15945135" y="5143500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8483" y="685792"/>
            <a:ext cx="15869517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Các chức năng chính 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45135" y="5143500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47709" y="2917728"/>
            <a:ext cx="13265358" cy="6549771"/>
          </a:xfrm>
          <a:custGeom>
            <a:avLst/>
            <a:gdLst/>
            <a:ahLst/>
            <a:cxnLst/>
            <a:rect l="l" t="t" r="r" b="b"/>
            <a:pathLst>
              <a:path w="13265358" h="6549771">
                <a:moveTo>
                  <a:pt x="0" y="0"/>
                </a:moveTo>
                <a:lnTo>
                  <a:pt x="13265359" y="0"/>
                </a:lnTo>
                <a:lnTo>
                  <a:pt x="13265359" y="6549771"/>
                </a:lnTo>
                <a:lnTo>
                  <a:pt x="0" y="6549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92284" y="1794815"/>
            <a:ext cx="772883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AutoNum type="arabicPeriod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Biểu đồ trình tự thêm nhân viên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8483" y="685792"/>
            <a:ext cx="15869517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Các chức năng chính 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45135" y="5143500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92156" y="2746680"/>
            <a:ext cx="14452979" cy="6901298"/>
          </a:xfrm>
          <a:custGeom>
            <a:avLst/>
            <a:gdLst/>
            <a:ahLst/>
            <a:cxnLst/>
            <a:rect l="l" t="t" r="r" b="b"/>
            <a:pathLst>
              <a:path w="14452979" h="6901298">
                <a:moveTo>
                  <a:pt x="0" y="0"/>
                </a:moveTo>
                <a:lnTo>
                  <a:pt x="14452979" y="0"/>
                </a:lnTo>
                <a:lnTo>
                  <a:pt x="14452979" y="6901297"/>
                </a:lnTo>
                <a:lnTo>
                  <a:pt x="0" y="6901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04845" y="1794815"/>
            <a:ext cx="772505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AutoNum type="arabicPeriod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Biểu đồ trình tự thêm hợp đồng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8483" y="685792"/>
            <a:ext cx="15869517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Các chức năng chính 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45135" y="5143500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418483" y="2912880"/>
            <a:ext cx="12224466" cy="6249758"/>
          </a:xfrm>
          <a:custGeom>
            <a:avLst/>
            <a:gdLst/>
            <a:ahLst/>
            <a:cxnLst/>
            <a:rect l="l" t="t" r="r" b="b"/>
            <a:pathLst>
              <a:path w="12224466" h="6249758">
                <a:moveTo>
                  <a:pt x="0" y="0"/>
                </a:moveTo>
                <a:lnTo>
                  <a:pt x="12224465" y="0"/>
                </a:lnTo>
                <a:lnTo>
                  <a:pt x="12224465" y="6249758"/>
                </a:lnTo>
                <a:lnTo>
                  <a:pt x="0" y="6249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866466" y="1875862"/>
            <a:ext cx="908436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AutoNum type="arabicPeriod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Biểu đồ trình tự import file chấm công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8483" y="685792"/>
            <a:ext cx="15869517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Các chức năng chính 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45135" y="5143500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084775" y="2750786"/>
            <a:ext cx="14905350" cy="4900134"/>
          </a:xfrm>
          <a:custGeom>
            <a:avLst/>
            <a:gdLst/>
            <a:ahLst/>
            <a:cxnLst/>
            <a:rect l="l" t="t" r="r" b="b"/>
            <a:pathLst>
              <a:path w="14905350" h="4900134">
                <a:moveTo>
                  <a:pt x="0" y="0"/>
                </a:moveTo>
                <a:lnTo>
                  <a:pt x="14905350" y="0"/>
                </a:lnTo>
                <a:lnTo>
                  <a:pt x="14905350" y="4900134"/>
                </a:lnTo>
                <a:lnTo>
                  <a:pt x="0" y="49001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8483" y="685792"/>
            <a:ext cx="15869517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Các chức năng chính 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45135" y="5143500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084775" y="2750786"/>
            <a:ext cx="14905350" cy="4900134"/>
          </a:xfrm>
          <a:custGeom>
            <a:avLst/>
            <a:gdLst/>
            <a:ahLst/>
            <a:cxnLst/>
            <a:rect l="l" t="t" r="r" b="b"/>
            <a:pathLst>
              <a:path w="14905350" h="4900134">
                <a:moveTo>
                  <a:pt x="0" y="0"/>
                </a:moveTo>
                <a:lnTo>
                  <a:pt x="14905350" y="0"/>
                </a:lnTo>
                <a:lnTo>
                  <a:pt x="14905350" y="4900134"/>
                </a:lnTo>
                <a:lnTo>
                  <a:pt x="0" y="49001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8483" y="685792"/>
            <a:ext cx="15869517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Các chức năng chính 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45135" y="5143500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76936" y="1769978"/>
            <a:ext cx="10509925" cy="7488322"/>
          </a:xfrm>
          <a:custGeom>
            <a:avLst/>
            <a:gdLst/>
            <a:ahLst/>
            <a:cxnLst/>
            <a:rect l="l" t="t" r="r" b="b"/>
            <a:pathLst>
              <a:path w="10509925" h="7488322">
                <a:moveTo>
                  <a:pt x="0" y="0"/>
                </a:moveTo>
                <a:lnTo>
                  <a:pt x="10509925" y="0"/>
                </a:lnTo>
                <a:lnTo>
                  <a:pt x="10509925" y="7488322"/>
                </a:lnTo>
                <a:lnTo>
                  <a:pt x="0" y="7488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8483" y="685792"/>
            <a:ext cx="15869517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Các chức năng chính 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45135" y="5143500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676138" y="2892412"/>
            <a:ext cx="10440402" cy="6883095"/>
          </a:xfrm>
          <a:custGeom>
            <a:avLst/>
            <a:gdLst/>
            <a:ahLst/>
            <a:cxnLst/>
            <a:rect l="l" t="t" r="r" b="b"/>
            <a:pathLst>
              <a:path w="10440402" h="6883095">
                <a:moveTo>
                  <a:pt x="0" y="0"/>
                </a:moveTo>
                <a:lnTo>
                  <a:pt x="10440402" y="0"/>
                </a:lnTo>
                <a:lnTo>
                  <a:pt x="10440402" y="6883096"/>
                </a:lnTo>
                <a:lnTo>
                  <a:pt x="0" y="68830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034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04845" y="1794815"/>
            <a:ext cx="787445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AutoNum type="arabicPeriod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Biểu đồ trình tự thêm hợp đông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8483" y="685792"/>
            <a:ext cx="15869517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Các chức năng chính 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45135" y="5143500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942994" y="2319832"/>
            <a:ext cx="9351790" cy="7083981"/>
          </a:xfrm>
          <a:custGeom>
            <a:avLst/>
            <a:gdLst/>
            <a:ahLst/>
            <a:cxnLst/>
            <a:rect l="l" t="t" r="r" b="b"/>
            <a:pathLst>
              <a:path w="9351790" h="7083981">
                <a:moveTo>
                  <a:pt x="0" y="0"/>
                </a:moveTo>
                <a:lnTo>
                  <a:pt x="9351790" y="0"/>
                </a:lnTo>
                <a:lnTo>
                  <a:pt x="9351790" y="7083982"/>
                </a:lnTo>
                <a:lnTo>
                  <a:pt x="0" y="7083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8483" y="685792"/>
            <a:ext cx="15869517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7. Những hạn chế và Hướng phát triển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06828" y="2170396"/>
            <a:ext cx="621225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AutoNum type="arabicPeriod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Các vấn đề còn hạn chế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4628" y="2829574"/>
            <a:ext cx="15424171" cy="6304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Còn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hạn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chế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trong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việc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truy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cập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chỉ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có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thể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truy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cập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trên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web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Việc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chấm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công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chưa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được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thuận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tiện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cho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các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nhân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viên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trong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công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ty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Việc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báo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cáo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chưa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hoàn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toàn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chi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tiết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dẫn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đến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việc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phải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dùng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phần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mềm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bên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thứ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3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để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tính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toán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thêm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Việc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thông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báo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chưa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được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phát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triển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dẫn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đến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việc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tiếp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nhân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viên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chưa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được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nắm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bắt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thông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tin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nhanh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chóng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và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kịp</a:t>
            </a:r>
            <a:r>
              <a:rPr lang="en-US" sz="3399" dirty="0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dirty="0" err="1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thời</a:t>
            </a:r>
            <a:endParaRPr lang="en-US" sz="3399" dirty="0">
              <a:solidFill>
                <a:srgbClr val="104378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7241"/>
              </a:lnSpc>
            </a:pPr>
            <a:endParaRPr lang="en-US" sz="3399" dirty="0">
              <a:solidFill>
                <a:srgbClr val="10437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5945135" y="5143500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8483" y="685792"/>
            <a:ext cx="15869517" cy="80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1043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7. Những hạn chế và Hướng phát triển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62259" y="2293951"/>
            <a:ext cx="515043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AutoNum type="arabicPeriod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Hướng phát triển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3610" y="3084299"/>
            <a:ext cx="15020780" cy="447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Mobile App: Phát triển ứng dụng Flutter/React Native để nhân viên chấm công qua wifi của công ty.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Phát triển chức năng thông báo tới người dùng thông qua bên thứ 3.</a:t>
            </a:r>
          </a:p>
          <a:p>
            <a:pPr marL="734059" lvl="1" indent="-367030" algn="l">
              <a:lnSpc>
                <a:spcPts val="7241"/>
              </a:lnSpc>
              <a:buFont typeface="Arial"/>
              <a:buChar char="•"/>
            </a:pPr>
            <a:r>
              <a:rPr lang="en-US" sz="3399">
                <a:solidFill>
                  <a:srgbClr val="104378"/>
                </a:solidFill>
                <a:latin typeface="Noto Sans"/>
                <a:ea typeface="Noto Sans"/>
                <a:cs typeface="Noto Sans"/>
                <a:sym typeface="Noto Sans"/>
              </a:rPr>
              <a:t> Cần tìm hiểu kĩ và chi tiết về nghiệp vụ kế toán từ đó phát triển thêm được các nghiệp vụ thống kê, báo cáo,.... </a:t>
            </a:r>
          </a:p>
        </p:txBody>
      </p:sp>
      <p:sp>
        <p:nvSpPr>
          <p:cNvPr id="6" name="Freeform 6"/>
          <p:cNvSpPr/>
          <p:nvPr/>
        </p:nvSpPr>
        <p:spPr>
          <a:xfrm>
            <a:off x="15945135" y="5143500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45135" y="5143500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79041" y="3124200"/>
            <a:ext cx="5245100" cy="1332778"/>
            <a:chOff x="0" y="0"/>
            <a:chExt cx="1381426" cy="3510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375542" y="3252254"/>
            <a:ext cx="5118100" cy="1332778"/>
            <a:chOff x="0" y="0"/>
            <a:chExt cx="1347977" cy="3510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353963" y="2607911"/>
            <a:ext cx="11580074" cy="387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sz="7382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XIN CẢM ƠN </a:t>
            </a:r>
          </a:p>
          <a:p>
            <a:pPr algn="ctr">
              <a:lnSpc>
                <a:spcPts val="10334"/>
              </a:lnSpc>
            </a:pPr>
            <a:r>
              <a:rPr lang="en-US" sz="7382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THẦY CÔ VÀ CÁC BẠN </a:t>
            </a:r>
          </a:p>
          <a:p>
            <a:pPr algn="ctr">
              <a:lnSpc>
                <a:spcPts val="10334"/>
              </a:lnSpc>
            </a:pPr>
            <a:r>
              <a:rPr lang="en-US" sz="7382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ĐÃ LẮNG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868</Words>
  <Application>Microsoft Office PowerPoint</Application>
  <PresentationFormat>Custom</PresentationFormat>
  <Paragraphs>78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Noto Sans</vt:lpstr>
      <vt:lpstr>Calibri</vt:lpstr>
      <vt:lpstr>Arial</vt:lpstr>
      <vt:lpstr>Noto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DOANTOTNGHIEP-1</dc:title>
  <cp:lastModifiedBy>Quýy Trọng</cp:lastModifiedBy>
  <cp:revision>2</cp:revision>
  <dcterms:created xsi:type="dcterms:W3CDTF">2006-08-16T00:00:00Z</dcterms:created>
  <dcterms:modified xsi:type="dcterms:W3CDTF">2026-01-23T16:05:27Z</dcterms:modified>
  <dc:identifier>DAG_IYs3IFo</dc:identifier>
</cp:coreProperties>
</file>